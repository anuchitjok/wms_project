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722" y="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4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40480" y="0"/>
            <a:ext cx="73152" cy="51435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32004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7A"/>
                </a:solidFill>
                <a:latin typeface="Calibri"/>
              </a:rPr>
              <a:t>HSNT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E4C7"/>
                </a:solidFill>
                <a:latin typeface="Calibri"/>
              </a:rPr>
              <a:t>Highpoint Service Network Thailand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98448"/>
            <a:ext cx="2743200" cy="36576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E"/>
                </a:solidFill>
                <a:latin typeface="Calibri"/>
              </a:rPr>
              <a:t>Warehouse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B89A"/>
                </a:solidFill>
                <a:latin typeface="Calibri"/>
              </a:rPr>
              <a:t>นำเสนอต่อคณะกรรมการบริหาร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375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7E4C7"/>
                </a:solidFill>
                <a:latin typeface="Calibri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486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6B3A"/>
                </a:solidFill>
                <a:latin typeface="Calibri"/>
              </a:rPr>
              <a:t>ระบบบริหารจัดการคลังสินค้า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051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ครบวงจร | ทันสมัย | ปลอดภัย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600200"/>
            <a:ext cx="1234440" cy="10058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164592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6B3A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48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7A5A"/>
                </a:solidFill>
                <a:latin typeface="Calibri"/>
              </a:rPr>
              <a:t>Portals หลัก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1600200"/>
            <a:ext cx="1234440" cy="10058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164592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6B3A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148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7A5A"/>
                </a:solidFill>
                <a:latin typeface="Calibri"/>
              </a:rPr>
              <a:t>User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600200"/>
            <a:ext cx="1234440" cy="10058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64592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6B3A"/>
                </a:solidFill>
                <a:latin typeface="Calibri"/>
              </a:rPr>
              <a:t>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48840"/>
            <a:ext cx="1234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7A5A"/>
                </a:solidFill>
                <a:latin typeface="Calibri"/>
              </a:rPr>
              <a:t>Key Workflows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66344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B89A"/>
                </a:solidFill>
                <a:latin typeface="Calibri"/>
              </a:rPr>
              <a:t>คลิกเพื่อเริ่มต้น 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เริ่มต้น 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สารบัญ —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คลิกหัวข้อเพื่อไปยังสไลด์นั้น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7A5A"/>
                </a:solidFill>
                <a:latin typeface="Calibri"/>
              </a:rPr>
              <a:t>Interactive Navigation — คลิกหัวข้อด้านล่างเพื่อไปยังเนื้อหา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280160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63440" y="1280160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371600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38528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1938528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2029968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938528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3440" y="1938528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029968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96896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596896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688336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596896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2596896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2688336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55264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255264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3346704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255264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3255264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3346704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13631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913631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005071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3913631"/>
            <a:ext cx="4114800" cy="54864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663440" y="3913631"/>
            <a:ext cx="347472" cy="5486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4005071"/>
            <a:ext cx="347472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2 /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131673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01  ที่มาและวัตถุประสงค์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" y="1591056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Overview &amp; Objectives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1316736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02  โครงสร้างระบบ 4 Portals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1591056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System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197510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03  บทบาทผู้ใช้งาน 12 Roles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" y="2249424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User Roles &amp; Permissions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197510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04  กระบวนการทำงานหลัก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47488" y="2249424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Key Workflows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26334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05  การควบคุมสถานะสต็อก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2907791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Inventory Status 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7488" y="26334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06  Dashboard ผู้บริหาร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7488" y="2907791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Executive KPI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" y="329184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07  สถานที่ปฏิบัติการ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" y="356616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Operational Sites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7488" y="329184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08  เทคโนโลยีและการออกแบบ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47488" y="3566160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Technology &amp; Design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" y="3950207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09  แผนพัฒนาในอนาคต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" y="4224527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Future Roadmap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3950207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 b="1" u="sng">
                <a:solidFill>
                  <a:srgbClr val="1B6B3A"/>
                </a:solidFill>
                <a:latin typeface="Calibri"/>
                <a:hlinkClick r:id="" action="ppaction://noaction"/>
              </a:rPr>
              <a:t>  10  สรุปสำหรับคณะกรรมการ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47488" y="4224527"/>
            <a:ext cx="3611880" cy="20116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50" b="0" u="sng">
                <a:solidFill>
                  <a:srgbClr val="4A7A5A"/>
                </a:solidFill>
                <a:latin typeface="Calibri"/>
                <a:hlinkClick r:id="" action="ppaction://noaction"/>
              </a:rPr>
              <a:t>  Board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 ที่มาและวัตถุประสงค์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Overview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ปัญหาที่ต้องการแก้ไข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29260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การบริหารสต็อกยังใช้ Excel / Manual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9222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ข้อมูลสต็อกไม่ Real-time, เกิด Error บ่อย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042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ไม่มีระบบ Approval Workflow ที่ชัดเจน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98064"/>
            <a:ext cx="29260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980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1635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ขาดการ Track DOA / RTV อย่างเป็นระบบ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10128"/>
            <a:ext cx="292608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3101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284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ผู้บริหารขาด Dashboard ติดตาม KPI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103120"/>
            <a:ext cx="45720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2084831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วัตถุประสงค์ WMS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1261872"/>
            <a:ext cx="3840480" cy="384048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1280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29844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Real-time Stock Visibility ทุก 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1773936"/>
            <a:ext cx="3840480" cy="384048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179222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181051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Approval Workflow อัตโนมัติ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2286000"/>
            <a:ext cx="3840480" cy="384048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0" y="230428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232257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Pick / Pack / Ship ครบวงจร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798064"/>
            <a:ext cx="3840480" cy="384048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28163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83464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RMA &amp; RTV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310128"/>
            <a:ext cx="3840480" cy="384048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33284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CAF7D"/>
                </a:solidFill>
                <a:latin typeface="Calibri"/>
              </a:rPr>
              <a:t>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34670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1A"/>
                </a:solidFill>
                <a:latin typeface="Calibri"/>
              </a:rPr>
              <a:t>Executive Dashboard &amp; KPI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818888"/>
            <a:ext cx="8412480" cy="3017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B6B3A"/>
                </a:solidFill>
                <a:latin typeface="Calibri"/>
              </a:rPr>
              <a:t>HSNT WMS คือระบบที่เปลี่ยน Manual Process ไปสู่ Digital Workflow ที่ตรวจสอบได้, มีประสิทธิภาพ และรองรับการเติบโต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3 / 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 โครงสร้างระบบ — 4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2103120" cy="3977639"/>
          </a:xfrm>
          <a:prstGeom prst="rect">
            <a:avLst/>
          </a:prstGeom>
          <a:solidFill>
            <a:srgbClr val="F4FBF6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914400"/>
            <a:ext cx="2103120" cy="960120"/>
          </a:xfrm>
          <a:prstGeom prst="rect">
            <a:avLst/>
          </a:prstGeom>
          <a:solidFill>
            <a:srgbClr val="0D4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93268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31673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Admin
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9385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User &amp; Role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Product / Brand / Vendor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7797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Warehouse &amp; Rack Master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2004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Approval Workflow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621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Audit Log &amp; Notification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914400"/>
            <a:ext cx="2103120" cy="3977639"/>
          </a:xfrm>
          <a:prstGeom prst="rect">
            <a:avLst/>
          </a:prstGeom>
          <a:solidFill>
            <a:srgbClr val="F4FBF6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4600" y="914400"/>
            <a:ext cx="2103120" cy="96012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93268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131673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Warehouse
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4328" y="19385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Goods Receiving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Putaway &amp; Stock 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27797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Pick / Pack / 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004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Cycle 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24328" y="3621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Warehouse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914400"/>
            <a:ext cx="2103120" cy="3977639"/>
          </a:xfrm>
          <a:prstGeom prst="rect">
            <a:avLst/>
          </a:prstGeom>
          <a:solidFill>
            <a:srgbClr val="F4FBF6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0600" y="914400"/>
            <a:ext cx="2103120" cy="96012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00600" y="93268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31673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Requester
Portal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19385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Create Withdrawal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Track Request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27797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Confirm RMA Usage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0328" y="32004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Declare DOA / Defective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621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Unused Goods Return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914400"/>
            <a:ext cx="2103120" cy="3977639"/>
          </a:xfrm>
          <a:prstGeom prst="rect">
            <a:avLst/>
          </a:prstGeom>
          <a:solidFill>
            <a:srgbClr val="F4FBF6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086600" y="914400"/>
            <a:ext cx="2103120" cy="96012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86600" y="932688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1316736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RTV
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6328" y="193852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DOA &amp; Defective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2359152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RTV Case Creation &amp;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8" y="27797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Vendor Return Shipment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32004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Replacement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6328" y="362102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1A"/>
                </a:solidFill>
                <a:latin typeface="Calibri"/>
              </a:rPr>
              <a:t>• Credit Note &amp; Closure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4 / 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 บทบาทผู้ใช้งาน 12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User Roles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384048" cy="457200"/>
          </a:xfrm>
          <a:prstGeom prst="rect">
            <a:avLst/>
          </a:prstGeom>
          <a:solidFill>
            <a:srgbClr val="0D4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1033272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99669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System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19786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Full system access &amp; configuration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960120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54680" y="960120"/>
            <a:ext cx="384048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1033272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99669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Warehouse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19786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Oversee all warehouse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960120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80760" y="960120"/>
            <a:ext cx="384048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1033272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996696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Warehouse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1197864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Supervise daily warehouse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472184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600" y="1472184"/>
            <a:ext cx="384048" cy="4572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1545336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5087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Warehouse Staff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17099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Execute pick / pack / receive / 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1472184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54680" y="1472184"/>
            <a:ext cx="384048" cy="45720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4680" y="1545336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93592" y="15087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Requester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17099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Create &amp; track withdrawal requests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472184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80760" y="1472184"/>
            <a:ext cx="384048" cy="45720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1545336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150876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Department Approver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1709928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Approve requests for own department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1984248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28600" y="1984248"/>
            <a:ext cx="384048" cy="457200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28600" y="205740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202082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RMA / Service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2221991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Confirm RMA usage &amp; item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54680" y="1984248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54680" y="1984248"/>
            <a:ext cx="384048" cy="457200"/>
          </a:xfrm>
          <a:prstGeom prst="rect">
            <a:avLst/>
          </a:prstGeom>
          <a:solidFill>
            <a:srgbClr val="07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80" y="205740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2" y="202082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RTV Officer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3592" y="2221991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Process DOA &amp; vendor returns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1984248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80760" y="1984248"/>
            <a:ext cx="384048" cy="457200"/>
          </a:xfrm>
          <a:prstGeom prst="rect">
            <a:avLst/>
          </a:prstGeom>
          <a:solidFill>
            <a:srgbClr val="64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80760" y="2057400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9672" y="2020824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Finance / Acct Viewer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672" y="2221991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View stock values &amp; transactions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2496312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28600" y="2496312"/>
            <a:ext cx="384048" cy="457200"/>
          </a:xfrm>
          <a:prstGeom prst="rect">
            <a:avLst/>
          </a:prstGeom>
          <a:solidFill>
            <a:srgbClr val="6474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8600" y="256946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253288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Brand / Vendor Viewer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" y="2734056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View brand-specific stock &amp; RTV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2496312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154680" y="2496312"/>
            <a:ext cx="384048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154680" y="256946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93592" y="253288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Management Viewer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3592" y="2734056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Executive dashboard &amp; reports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2496312"/>
            <a:ext cx="2834640" cy="45720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080760" y="2496312"/>
            <a:ext cx="384048" cy="457200"/>
          </a:xfrm>
          <a:prstGeom prst="rect">
            <a:avLst/>
          </a:prstGeom>
          <a:solidFill>
            <a:srgbClr val="4A7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0760" y="2569464"/>
            <a:ext cx="38404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9672" y="2532888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6B3A"/>
                </a:solidFill>
                <a:latin typeface="Calibri"/>
              </a:rPr>
              <a:t>Auditor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9672" y="2734056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7A5A"/>
                </a:solidFill>
                <a:latin typeface="Calibri"/>
              </a:rPr>
              <a:t>Read-only audit log &amp; cycle count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5 / 11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 กระบวนการทำงานหลัก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Key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137160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987552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B3A"/>
                </a:solidFill>
                <a:latin typeface="Calibri"/>
              </a:rPr>
              <a:t>Goods Receiving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987552"/>
            <a:ext cx="1371600" cy="457200"/>
          </a:xfrm>
          <a:prstGeom prst="rect">
            <a:avLst/>
          </a:prstGeom>
          <a:solidFill>
            <a:srgbClr val="4CAF7D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1005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สินค้าเข้า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10789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9544" y="987552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55263" y="1005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ตรวจสอบ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10789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987552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005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สร้าง Receiving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0789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987552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005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Putaway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1078992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63256" y="987552"/>
            <a:ext cx="13716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08976" y="100584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สต็อกพร้อมใช้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728216"/>
            <a:ext cx="137160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8600" y="1801368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B3A"/>
                </a:solidFill>
                <a:latin typeface="Calibri"/>
              </a:rPr>
              <a:t>Withdrawal Request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1801368"/>
            <a:ext cx="1371600" cy="457200"/>
          </a:xfrm>
          <a:prstGeom prst="rect">
            <a:avLst/>
          </a:prstGeom>
          <a:solidFill>
            <a:srgbClr val="4CAF7D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37360" y="181965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Requester ขอเบิก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81528" y="1892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9544" y="1801368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55263" y="181965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1892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27448" y="1801368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181965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7336" y="1892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1801368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181965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Reserve Stock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1892808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63256" y="1801368"/>
            <a:ext cx="13716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6" y="181965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Picking Task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542032"/>
            <a:ext cx="137160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8600" y="2615184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B3A"/>
                </a:solidFill>
                <a:latin typeface="Calibri"/>
              </a:rPr>
              <a:t>Pick/Pack/Ship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91640" y="2615184"/>
            <a:ext cx="1371600" cy="457200"/>
          </a:xfrm>
          <a:prstGeom prst="rect">
            <a:avLst/>
          </a:prstGeom>
          <a:solidFill>
            <a:srgbClr val="4CAF7D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737360" y="263347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รับ Task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1528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9544" y="2615184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55263" y="263347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Pick ตาม Location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99431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27448" y="2615184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73168" y="263347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Pack &amp; Label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17336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5352" y="2615184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91072" y="263347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Ship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706624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63256" y="2615184"/>
            <a:ext cx="13716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808976" y="263347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Receiver ยืนยัน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3355848"/>
            <a:ext cx="137160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8600" y="342900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B3A"/>
                </a:solidFill>
                <a:latin typeface="Calibri"/>
              </a:rPr>
              <a:t>RMA Usage Confirm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91640" y="3429000"/>
            <a:ext cx="1371600" cy="457200"/>
          </a:xfrm>
          <a:prstGeom prst="rect">
            <a:avLst/>
          </a:prstGeom>
          <a:solidFill>
            <a:srgbClr val="4CAF7D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737360" y="344728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เบิกสินค้าออก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81528" y="35204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9544" y="3429000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55263" y="344728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ใช้งาน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99431" y="35204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27448" y="3429000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73168" y="344728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แจ้งผลการใช้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17336" y="35204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45352" y="3429000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291072" y="344728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DOA/คืน/ใช้แล้ว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3520440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63256" y="3429000"/>
            <a:ext cx="13716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08976" y="344728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ปิด Case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2880" y="4169664"/>
            <a:ext cx="1371600" cy="658368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8600" y="4242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B3A"/>
                </a:solidFill>
                <a:latin typeface="Calibri"/>
              </a:rPr>
              <a:t>RTV Process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91640" y="4242816"/>
            <a:ext cx="1371600" cy="457200"/>
          </a:xfrm>
          <a:prstGeom prst="rect">
            <a:avLst/>
          </a:prstGeom>
          <a:solidFill>
            <a:srgbClr val="4CAF7D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737360" y="426110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แจ้ง DOA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81528" y="43342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9544" y="4242816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55263" y="426110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RTV Review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9431" y="43342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27448" y="4242816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73168" y="426110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Approve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17336" y="43342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45352" y="4242816"/>
            <a:ext cx="1371600" cy="45720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291072" y="426110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2E1A"/>
                </a:solidFill>
                <a:latin typeface="Calibri"/>
              </a:rPr>
              <a:t>คืน Vendor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43342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AF7D"/>
                </a:solidFill>
                <a:latin typeface="Calibri"/>
              </a:rPr>
              <a:t>›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63256" y="4242816"/>
            <a:ext cx="1371600" cy="457200"/>
          </a:xfrm>
          <a:prstGeom prst="rect">
            <a:avLst/>
          </a:prstGeom>
          <a:solidFill>
            <a:srgbClr val="1B6B3A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808976" y="426110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ติดตามผล &amp; ปิด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6 / 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 การควบคุมสถานะสต็อก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Inventory Status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103120" cy="347472"/>
          </a:xfrm>
          <a:prstGeom prst="rect">
            <a:avLst/>
          </a:prstGeom>
          <a:solidFill>
            <a:srgbClr val="EFF7F2"/>
          </a:solidFill>
          <a:ln w="635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9509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● Pending Receiving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2032" y="914400"/>
            <a:ext cx="2103120" cy="347472"/>
          </a:xfrm>
          <a:prstGeom prst="rect">
            <a:avLst/>
          </a:prstGeom>
          <a:solidFill>
            <a:srgbClr val="EFF7F2"/>
          </a:solidFill>
          <a:ln w="635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33472" y="9509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● Pending Inspection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4023" y="914400"/>
            <a:ext cx="21031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3" y="9509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6B3A"/>
                </a:solidFill>
                <a:latin typeface="Calibri"/>
              </a:rPr>
              <a:t>●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6015" y="914400"/>
            <a:ext cx="21031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5" y="95097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6B3A"/>
                </a:solidFill>
                <a:latin typeface="Calibri"/>
              </a:rPr>
              <a:t>● Reserved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335024"/>
            <a:ext cx="210312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1371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56404"/>
                </a:solidFill>
                <a:latin typeface="Calibri"/>
              </a:rPr>
              <a:t>● Picking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42032" y="1335024"/>
            <a:ext cx="210312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856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33472" y="1371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56404"/>
                </a:solidFill>
                <a:latin typeface="Calibri"/>
              </a:rPr>
              <a:t>● Packed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4023" y="1335024"/>
            <a:ext cx="2103120" cy="347472"/>
          </a:xfrm>
          <a:prstGeom prst="rect">
            <a:avLst/>
          </a:prstGeom>
          <a:solidFill>
            <a:srgbClr val="CCE5FF"/>
          </a:solidFill>
          <a:ln w="6350">
            <a:solidFill>
              <a:srgbClr val="004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55463" y="1371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085"/>
                </a:solidFill>
                <a:latin typeface="Calibri"/>
              </a:rPr>
              <a:t>● Shipped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6015" y="1335024"/>
            <a:ext cx="2103120" cy="347472"/>
          </a:xfrm>
          <a:prstGeom prst="rect">
            <a:avLst/>
          </a:prstGeom>
          <a:solidFill>
            <a:srgbClr val="CCE5FF"/>
          </a:solidFill>
          <a:ln w="6350">
            <a:solidFill>
              <a:srgbClr val="004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7455" y="13716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085"/>
                </a:solidFill>
                <a:latin typeface="Calibri"/>
              </a:rPr>
              <a:t>● Issued to RMA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755648"/>
            <a:ext cx="2103120" cy="347472"/>
          </a:xfrm>
          <a:prstGeom prst="rect">
            <a:avLst/>
          </a:prstGeom>
          <a:solidFill>
            <a:srgbClr val="D6D8DB"/>
          </a:solidFill>
          <a:ln w="6350">
            <a:solidFill>
              <a:srgbClr val="383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79" y="179222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3D41"/>
                </a:solidFill>
                <a:latin typeface="Calibri"/>
              </a:rPr>
              <a:t>● Consumed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2032" y="1755648"/>
            <a:ext cx="2103120" cy="347472"/>
          </a:xfrm>
          <a:prstGeom prst="rect">
            <a:avLst/>
          </a:prstGeom>
          <a:solidFill>
            <a:srgbClr val="F8D7DA"/>
          </a:solidFill>
          <a:ln w="6350">
            <a:solidFill>
              <a:srgbClr val="72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33472" y="179222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21C24"/>
                </a:solidFill>
                <a:latin typeface="Calibri"/>
              </a:rPr>
              <a:t>● Quarantine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64023" y="1755648"/>
            <a:ext cx="2103120" cy="347472"/>
          </a:xfrm>
          <a:prstGeom prst="rect">
            <a:avLst/>
          </a:prstGeom>
          <a:solidFill>
            <a:srgbClr val="F8D7DA"/>
          </a:solidFill>
          <a:ln w="6350">
            <a:solidFill>
              <a:srgbClr val="72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5463" y="179222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21C24"/>
                </a:solidFill>
                <a:latin typeface="Calibri"/>
              </a:rPr>
              <a:t>● DOA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6015" y="1755648"/>
            <a:ext cx="2103120" cy="347472"/>
          </a:xfrm>
          <a:prstGeom prst="rect">
            <a:avLst/>
          </a:prstGeom>
          <a:solidFill>
            <a:srgbClr val="F8D7DA"/>
          </a:solidFill>
          <a:ln w="6350">
            <a:solidFill>
              <a:srgbClr val="72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77455" y="1792224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21C24"/>
                </a:solidFill>
                <a:latin typeface="Calibri"/>
              </a:rPr>
              <a:t>● RTV 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176272"/>
            <a:ext cx="2103120" cy="347472"/>
          </a:xfrm>
          <a:prstGeom prst="rect">
            <a:avLst/>
          </a:prstGeom>
          <a:solidFill>
            <a:srgbClr val="E2CFEE"/>
          </a:solidFill>
          <a:ln w="6350">
            <a:solidFill>
              <a:srgbClr val="4A2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79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235A"/>
                </a:solidFill>
                <a:latin typeface="Calibri"/>
              </a:rPr>
              <a:t>● RTV Shipped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42032" y="2176272"/>
            <a:ext cx="2103120" cy="347472"/>
          </a:xfrm>
          <a:prstGeom prst="rect">
            <a:avLst/>
          </a:prstGeom>
          <a:solidFill>
            <a:srgbClr val="EFF7F2"/>
          </a:solidFill>
          <a:ln w="6350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33472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AF7D"/>
                </a:solidFill>
                <a:latin typeface="Calibri"/>
              </a:rPr>
              <a:t>● Returned Unused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64023" y="2176272"/>
            <a:ext cx="2103120" cy="347472"/>
          </a:xfrm>
          <a:prstGeom prst="rect">
            <a:avLst/>
          </a:prstGeom>
          <a:solidFill>
            <a:srgbClr val="D6D8DB"/>
          </a:solidFill>
          <a:ln w="6350">
            <a:solidFill>
              <a:srgbClr val="383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55463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3D41"/>
                </a:solidFill>
                <a:latin typeface="Calibri"/>
              </a:rPr>
              <a:t>● Closed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86015" y="2176272"/>
            <a:ext cx="2103120" cy="347472"/>
          </a:xfrm>
          <a:prstGeom prst="rect">
            <a:avLst/>
          </a:prstGeom>
          <a:solidFill>
            <a:srgbClr val="D6D8DB"/>
          </a:solidFill>
          <a:ln w="6350">
            <a:solidFill>
              <a:srgbClr val="383D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77455" y="2212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3D41"/>
                </a:solidFill>
                <a:latin typeface="Calibri"/>
              </a:rPr>
              <a:t>● Cancelled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800600"/>
            <a:ext cx="8503920" cy="3017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7A5A"/>
                </a:solidFill>
                <a:latin typeface="Calibri"/>
              </a:rPr>
              <a:t>● สีเขียว = พร้อมใช้  ● สีเหลือง = ระหว่างดำเนินการ  ● สีแดง = ปัญหา / กักกัน  ● สีเทา = ปิด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7 / 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06  Executive Dashboard &amp;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Real-time Monitoring for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0161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0161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3A"/>
                </a:solidFill>
                <a:latin typeface="Calibri"/>
              </a:rPr>
              <a:t>฿ XXM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161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มูลค่าสต็อกรวม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1658065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58065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CAF7D"/>
                </a:solidFill>
                <a:latin typeface="Calibri"/>
              </a:rPr>
              <a:t>XX,XXX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8065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สินค้า 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5968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75968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0392B"/>
                </a:solidFill>
                <a:latin typeface="Calibri"/>
              </a:rPr>
              <a:t>XX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968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DOA รอดำเนินการ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3872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3872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7E22"/>
                </a:solidFill>
                <a:latin typeface="Calibri"/>
              </a:rPr>
              <a:t>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3872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RTV รอส่งคืน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1777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1777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CAF7D"/>
                </a:solidFill>
                <a:latin typeface="Calibri"/>
              </a:rPr>
              <a:t>XX%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777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Warehouse Util.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9681" y="902838"/>
            <a:ext cx="1463040" cy="96012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9681" y="94855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6B3A"/>
                </a:solidFill>
                <a:latin typeface="Calibri"/>
              </a:rPr>
              <a:t>XX%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9681" y="1433190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7A5A"/>
                </a:solidFill>
                <a:latin typeface="Calibri"/>
              </a:rPr>
              <a:t>SLA Completion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161" y="2018406"/>
            <a:ext cx="4114800" cy="260604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041" y="2091558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3A"/>
                </a:solidFill>
                <a:latin typeface="Calibri"/>
              </a:rPr>
              <a:t>สต็อกแยกตาม Brand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3041" y="2475606"/>
            <a:ext cx="1120139" cy="29260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3041" y="247560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Brand A  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041" y="2914518"/>
            <a:ext cx="896112" cy="29260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3041" y="291451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Brand B  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3041" y="3353430"/>
            <a:ext cx="704088" cy="292608"/>
          </a:xfrm>
          <a:prstGeom prst="rect">
            <a:avLst/>
          </a:prstGeom>
          <a:solidFill>
            <a:srgbClr val="00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3041" y="335343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Brand C  22%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041" y="3792342"/>
            <a:ext cx="480060" cy="292608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3041" y="379234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Other  15%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7841" y="2018406"/>
            <a:ext cx="4297680" cy="2606040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20721" y="2091558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B3A"/>
                </a:solidFill>
                <a:latin typeface="Calibri"/>
              </a:rPr>
              <a:t>Inventory Aging &amp; SLA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20721" y="2475606"/>
            <a:ext cx="2370124" cy="32004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20721" y="247560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&lt; 30 วัน  (สดใหม่)  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20721" y="2987670"/>
            <a:ext cx="592531" cy="3200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20721" y="298767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30-90 วัน  (ปกติ)  18%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20721" y="3499734"/>
            <a:ext cx="329184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620721" y="349973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&gt; 90 วัน  (ตรวจสอบ)  10%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9761" y="4880478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8 / 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9681" y="4725030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729681" y="472503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07  สถานที่ปฏิบัติการ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Operational Warehouse Sites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43200" cy="160020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607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📍 Tower B1FL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179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คลังชั้น B1 อาคาร Tower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4708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7A5A"/>
                </a:solidFill>
                <a:latin typeface="Calibri"/>
              </a:rPr>
              <a:t>Type: Spare Parts, Consignment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214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alibri"/>
              </a:rPr>
              <a:t>● Real-time Stock Tracking
● Location / Rack / Bin Mgmt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05840"/>
            <a:ext cx="2743200" cy="160020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005840"/>
            <a:ext cx="27432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0607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📍 Tower B2FL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5179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คลังชั้น B2 อาคาร Tower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4708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7A5A"/>
                </a:solidFill>
                <a:latin typeface="Calibri"/>
              </a:rPr>
              <a:t>Type: Finished Goods, RMA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214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alibri"/>
              </a:rPr>
              <a:t>● Real-time Stock Tracking
● Location / Rack / Bin Mgmt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05840"/>
            <a:ext cx="2743200" cy="160020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10607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📍 Tower C1FL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151790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คลังชั้น C1 อาคาร Tower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184708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7A5A"/>
                </a:solidFill>
                <a:latin typeface="Calibri"/>
              </a:rPr>
              <a:t>Type: Consignment, Overflow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1214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alibri"/>
              </a:rPr>
              <a:t>● Real-time Stock Tracking
● Location / Rack / Bin Mgmt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74320" y="2880360"/>
            <a:ext cx="27432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93522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📍 SCG Warehouse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39242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คลังสินค้า SCG (Off-site)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2160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7A5A"/>
                </a:solidFill>
                <a:latin typeface="Calibri"/>
              </a:rPr>
              <a:t>Type: Bulk / Long-term Storage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995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alibri"/>
              </a:rPr>
              <a:t>● Real-time Stock Tracking
● Location / Rack / Bin Mgmt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880360"/>
            <a:ext cx="2743200" cy="1600200"/>
          </a:xfrm>
          <a:prstGeom prst="rect">
            <a:avLst/>
          </a:prstGeom>
          <a:solidFill>
            <a:srgbClr val="E8F5EE"/>
          </a:solidFill>
          <a:ln w="762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46120" y="2880360"/>
            <a:ext cx="2743200" cy="4572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293522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📍 RTV / Quarantine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339242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พื้นที่กักกันสินค้า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721608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7A5A"/>
                </a:solidFill>
                <a:latin typeface="Calibri"/>
              </a:rPr>
              <a:t>Type: DOA, Defective, RTV Pending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99592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CAF7D"/>
                </a:solidFill>
                <a:latin typeface="Calibri"/>
              </a:rPr>
              <a:t>● Real-time Stock Tracking
● Location / Rack / Bin Mgmt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9 /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08  เทคโนโลยีและการออกแบบ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Technology &amp;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UI/UX Design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344168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Modern SaaS Dashboard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64792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77393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Role-Based Menu &amp; Access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85415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194560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203704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Responsive Layout (Desktop / Tablet)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15184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624328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2633472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Notification Center แบบ 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44952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3054096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063239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Audit Trail ทุก Transaction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74720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483863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493007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Approval Workflow Engine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04487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913631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922776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Status Badge &amp; Color Coding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34256"/>
            <a:ext cx="256032" cy="25603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343400"/>
            <a:ext cx="256032" cy="2377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4352544"/>
            <a:ext cx="3383280" cy="2468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Kanban Board: Pick/Pack/Ship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การออกแบบเชิงระบบ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1325880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134416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136245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Role-Based Access Control (RBAC)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755648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83480" y="1773936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1792224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Audit Log ทุก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185415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2203704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2221991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Notification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615184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83480" y="2633472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2651760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Executive Dashboard Real-time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044952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83480" y="3063239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3081528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รองรับ Mobile App (Future)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3474720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83480" y="3493007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9240" y="3511296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API Integration Ready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904487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80" y="3922776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49240" y="3941063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Power BI / Analytics Ready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4334256"/>
            <a:ext cx="3840480" cy="347472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983480" y="4352544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E1A"/>
                </a:solidFill>
                <a:latin typeface="Calibri"/>
              </a:rPr>
              <a:t>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9240" y="4370832"/>
            <a:ext cx="33375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1A"/>
                </a:solidFill>
                <a:latin typeface="Calibri"/>
              </a:rPr>
              <a:t>Barcode / QR Scan Ready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10 / 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09  แผนพัฒนาในอนาคต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7E4C7"/>
                </a:solidFill>
                <a:latin typeface="Calibri"/>
              </a:rP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651760" cy="3977639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14400"/>
            <a:ext cx="2651760" cy="658368"/>
          </a:xfrm>
          <a:prstGeom prst="rect">
            <a:avLst/>
          </a:prstGeom>
          <a:solidFill>
            <a:srgbClr val="0D4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932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1
Now → 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2344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Core WMS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64208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Admin, Warehouse, Requester, RTV Portals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76272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12 User Roles &amp;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88336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Full Workflow: Receive → 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00400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Executive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651760" cy="3977639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914400"/>
            <a:ext cx="2651760" cy="658368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932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2
Q4 → Q1+1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344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Enhanced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664208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Barcode / QR Code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2176272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Mobile Warehouse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688336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RMA System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200400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Vendor Portal (Read-only)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914400"/>
            <a:ext cx="2651760" cy="3977639"/>
          </a:xfrm>
          <a:prstGeom prst="rect">
            <a:avLst/>
          </a:prstGeom>
          <a:solidFill>
            <a:srgbClr val="F4FBF6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914400"/>
            <a:ext cx="2651760" cy="65836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932688"/>
            <a:ext cx="265176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Phase 3
Q2+1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234440"/>
            <a:ext cx="26517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Analytics &amp;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664208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Power BI Dashboard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176272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Inventory Forecasting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88336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DOA / RTV Trend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200400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Cycle Count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712464"/>
            <a:ext cx="2468879" cy="438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▸  SLA Monitoring &amp; Alert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00600"/>
            <a:ext cx="850392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59" y="4809744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3A"/>
                </a:solidFill>
                <a:latin typeface="Calibri"/>
              </a:rPr>
              <a:t>Now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39" y="4809744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3A"/>
                </a:solidFill>
                <a:latin typeface="Calibri"/>
              </a:rPr>
              <a:t>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809744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3A"/>
                </a:solidFill>
                <a:latin typeface="Calibri"/>
              </a:rPr>
              <a:t>Q4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9744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6B3A"/>
                </a:solidFill>
                <a:latin typeface="Calibri"/>
              </a:rPr>
              <a:t>Q2+1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11 / 11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0292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 สรุปสำหรับคณะกรรมการบริหาร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HSNT WMS — ระบบบริหารจัดการคลังสินค้าที่ครบวงจรและพร้อม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4114800" cy="86868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E1A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5506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6B3A"/>
                </a:solidFill>
                <a:latin typeface="Calibri"/>
              </a:rPr>
              <a:t>ครอบคลุม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4 Portals ดูแลทุกมิติของ Warehouse Operations ตั้งแต่ Admin ถึง RTV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00200"/>
            <a:ext cx="4114800" cy="86868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E1A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65506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6B3A"/>
                </a:solidFill>
                <a:latin typeface="Calibri"/>
              </a:rPr>
              <a:t>ปลอดภัย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94767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12 Roles พร้อม RBAC ทุก Action มี Audit Trail ตรวจสอบได้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4114800" cy="86868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E1A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609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6B3A"/>
                </a:solidFill>
                <a:latin typeface="Calibri"/>
              </a:rPr>
              <a:t>Real-time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5351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Executive Dashboard ติดตาม KPI และ Stock ได้ทันที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606040"/>
            <a:ext cx="4114800" cy="868680"/>
          </a:xfrm>
          <a:prstGeom prst="rect">
            <a:avLst/>
          </a:prstGeom>
          <a:solidFill>
            <a:srgbClr val="E8F5EE"/>
          </a:solidFill>
          <a:ln w="635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6791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2E1A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66090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B6B3A"/>
                </a:solidFill>
                <a:latin typeface="Calibri"/>
              </a:rPr>
              <a:t>รองรับการเติบโต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5351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1A"/>
                </a:solidFill>
                <a:latin typeface="Calibri"/>
              </a:rPr>
              <a:t>Roadmap 3 Phase พร้อม Mobile App, Analytics และ AI ในอนาคต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HSNT WMS พร้อมยกระดับการบริหารคลังสินค้าจาก Manual สู่ Digital อย่างมีประสิทธิภาพ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7E4C7"/>
                </a:solidFill>
                <a:latin typeface="Calibri"/>
              </a:rPr>
              <a:t>Highpoint Service Network Thailand Co., Ltd.  |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892040"/>
            <a:ext cx="5943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B89A"/>
                </a:solidFill>
                <a:latin typeface="Calibri"/>
              </a:rPr>
              <a:t>12 / 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solidFill>
            <a:srgbClr val="E8F5EE"/>
          </a:solidFill>
          <a:ln w="9525"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47365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1B6B3A"/>
                </a:solidFill>
                <a:latin typeface="Calibri"/>
                <a:hlinkClick r:id="" action="ppaction://noaction"/>
              </a:rPr>
              <a:t>◀ เมนูหลัก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1243</Words>
  <Application>Microsoft Office PowerPoint</Application>
  <PresentationFormat>On-screen Show (16:9)</PresentationFormat>
  <Paragraphs>357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Joknoi1, Anuchit</cp:lastModifiedBy>
  <cp:revision>2</cp:revision>
  <dcterms:created xsi:type="dcterms:W3CDTF">2013-01-27T09:14:16Z</dcterms:created>
  <dcterms:modified xsi:type="dcterms:W3CDTF">2026-06-03T12:13:09Z</dcterms:modified>
  <cp:category/>
</cp:coreProperties>
</file>